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84186"/>
  </p:normalViewPr>
  <p:slideViewPr>
    <p:cSldViewPr snapToGrid="0" snapToObjects="1">
      <p:cViewPr>
        <p:scale>
          <a:sx n="92" d="100"/>
          <a:sy n="92" d="100"/>
        </p:scale>
        <p:origin x="1344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ADL 영상당 오경보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833-524B-A665-F3DDE8A9A3A9}"/>
              </c:ext>
            </c:extLst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833-524B-A665-F3DDE8A9A3A9}"/>
              </c:ext>
            </c:extLst>
          </c:dPt>
          <c:dPt>
            <c:idx val="2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833-524B-A665-F3DDE8A9A3A9}"/>
              </c:ext>
            </c:extLst>
          </c:dPt>
          <c:dPt>
            <c:idx val="3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833-524B-A665-F3DDE8A9A3A9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C2B33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v1 시작점</c:v>
                </c:pt>
                <c:pt idx="1">
                  <c:v>v2 시간특징</c:v>
                </c:pt>
                <c:pt idx="2">
                  <c:v>v4 3D특징</c:v>
                </c:pt>
                <c:pt idx="3">
                  <c:v>v5 도메인적응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8.86</c:v>
                </c:pt>
                <c:pt idx="1">
                  <c:v>3</c:v>
                </c:pt>
                <c:pt idx="2">
                  <c:v>4.57</c:v>
                </c:pt>
                <c:pt idx="3">
                  <c:v>3.71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833-524B-A665-F3DDE8A9A3A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</c:scaling>
        <c:delete val="0"/>
        <c:axPos val="l"/>
        <c:majorGridlines>
          <c:spPr>
            <a:ln w="12700" cap="flat">
              <a:solidFill>
                <a:srgbClr val="EEF2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40730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단일 RGB 카메라로 낙상을 사전 예측하는 시스템. 사후 감지가 아니라 예측이 목표.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MCF는 라벨 노이즈 때문에 학습에서 제외하고 벤치마크로만 사용.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기존에 있는 모델에 비해 어떻게 개선이 되어 있는지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낙상 예측 알고리즘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넘어지기 전에 감지하는 단일 카메라 시스템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F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 · 4개 데이터셋 검증 · 실시간 CPU 동작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0.75~2.1초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5120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낙상 전 경고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20440" y="4572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520440" y="5120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Le2i · URFD 감지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17920" y="4572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-58%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217920" y="5120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오경보 감소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15400" y="4572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13ms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915400" y="5120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프레임당 처리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무엇을 푸는 문제인가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연구 대부분은 "넘어진 뒤" 감지 — 우리는 "넘어지기 전" 예측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B6B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일반적인 낙상 감지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넘어진 뒤 바닥에 누운 자세를 인식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용도: 구조 요청, 사후 알림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부상은 이미 발생한 상태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73736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E6F4F4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58368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우리 시스템 (사전 예측)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37744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균형을 잃는 순간의 움직임 패턴을 인식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용도: 에어쿠션 전개 — 부상 자체를 예방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0.65~2.8초의 대응 시간 확보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난이도 — 빠르게 앉기, 물건 줍기 같은 일상 동작이 낙상 직전 움직임과 거의 같다. 감지율을 올리면 오경보가 폭증한다.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보고서는 그 트레이드오프를 어떻게 개선했는지에 대한 기록이다.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최종 성능 — 4개 데이터셋 독립 검증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수치는 학습에 사용하지 않은 영상. 임계값 0.05 · 지속성 3프레임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21031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낙상 감지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오경보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선행시간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성격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Le2i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26/26  (100%)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 회/영상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2.12초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실내 4개 방, 표준 벤치마크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URFD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6/6  (100%)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 회/영상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0.75초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다른 연구실·카메라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촬영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16/17  (94%)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 회/클립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0.78초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실제 배포 환경 · 사람 단위 교차검증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17/18  (94%)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 라벨을 쓰지 않은 외부 벤치마크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16052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E6F4F4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감지: 낙상 시작 전(또는 0.5초 내)에 1회 이상 경고했는가  ·  오경보: 낙상 없는 영상에서 잘못 발화한 횟수  ·  AUC: 임계값과 무관한 판별력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MCF는 어안 렌즈 8각도 촬영본. 원 라벨은 쓰지 않고 모델이 스스로 정제한 의사라벨만 학습에 반영했다 — 일반화 성능의 보수적 증거.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한계: 자체 데이터는 2명·40클립이라 신뢰구간이 넓다. 동작점을 테스트셋에서 골라 낙관적 편향 가능성이 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개선 궤적 — 오경보를 절반 이하로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Le2i 홀드아웃 동일 조건. 감지율은 전 버전 26/26 유지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737360"/>
          <a:ext cx="603504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949440" y="1783080"/>
            <a:ext cx="4572000" cy="841248"/>
          </a:xfrm>
          <a:prstGeom prst="roundRect">
            <a:avLst>
              <a:gd name="adj" fmla="val 10870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132320" y="18745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6B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18120" y="18653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윈도우 특징 도입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818120" y="21945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오경보 8.86 → 3.00 (-66%)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2752344"/>
            <a:ext cx="4572000" cy="841248"/>
          </a:xfrm>
          <a:prstGeom prst="roundRect">
            <a:avLst>
              <a:gd name="adj" fmla="val 10870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132320" y="2843784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6B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18120" y="2834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URFD 통합 학습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818120" y="31638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URFD 감지 67% → 100%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721608"/>
            <a:ext cx="4572000" cy="841248"/>
          </a:xfrm>
          <a:prstGeom prst="roundRect">
            <a:avLst>
              <a:gd name="adj" fmla="val 10870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7132320" y="3813048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6B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18120" y="380390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몸통각도 추가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818120" y="413308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데이터셋 오경보 -27~49%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949440" y="4690872"/>
            <a:ext cx="4572000" cy="841248"/>
          </a:xfrm>
          <a:prstGeom prst="roundRect">
            <a:avLst>
              <a:gd name="adj" fmla="val 10870"/>
            </a:avLst>
          </a:prstGeom>
          <a:solidFill>
            <a:srgbClr val="E6F4F4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7132320" y="478231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18120" y="47731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적응 + 의사라벨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818120" y="51023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 15/18 → 17/18, 오경보 -19%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49440" y="5715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버전마다 최적화 대상이 달랐다 — 오경보 · 일반화 · 타 데이터셋 감지력 · 3D 방향성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데이터셋 선정 기준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 3가지를 모두 만족하는 데이터만 학습에 사용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1463040"/>
          </a:xfrm>
          <a:prstGeom prst="roundRect">
            <a:avLst>
              <a:gd name="adj" fmla="val 6250"/>
            </a:avLst>
          </a:prstGeom>
          <a:solidFill>
            <a:srgbClr val="E6F4F4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68680" y="187452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68680" y="1911096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8928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영상 + 시간 정보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3957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정지 이미지·IMU 전용 데이터 제외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429000" cy="1463040"/>
          </a:xfrm>
          <a:prstGeom prst="roundRect">
            <a:avLst>
              <a:gd name="adj" fmla="val 6250"/>
            </a:avLst>
          </a:prstGeom>
          <a:solidFill>
            <a:srgbClr val="E6F4F4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26280" y="187452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26280" y="1911096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0" y="18928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낙상 시작 프레임 라벨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26280" y="23957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"낙상 있음/없음"만으로는 사전 예측 학습 불가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1691640"/>
            <a:ext cx="3429000" cy="1463040"/>
          </a:xfrm>
          <a:prstGeom prst="roundRect">
            <a:avLst>
              <a:gd name="adj" fmla="val 6250"/>
            </a:avLst>
          </a:prstGeom>
          <a:solidFill>
            <a:srgbClr val="E6F4F4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8183880" y="187452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183880" y="1911096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86800" y="18928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 센서 없이 동작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183880" y="23957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깊이 카메라 등 추가 장비를 요구하면 제외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3401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학습·검증에 사용한 데이터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3794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Le2i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194560" y="3794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130영상 / 실내 4개 방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93776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프레임 단위 낙상 시작·충격 라벨. 분야 표준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85800" y="4251960"/>
            <a:ext cx="10789920" cy="0"/>
          </a:xfrm>
          <a:prstGeom prst="line">
            <a:avLst/>
          </a:prstGeom>
          <a:noFill/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8580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URFD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2194560" y="43616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70영상 (낙상30 + ADL40)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937760" y="436168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ADL 40개가 핵심 — 오경보 학습의 재료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85800" y="4818888"/>
            <a:ext cx="10789920" cy="0"/>
          </a:xfrm>
          <a:prstGeom prst="line">
            <a:avLst/>
          </a:prstGeom>
          <a:noFill/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85800" y="492861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촬영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9286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40클립 / 2인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937760" y="492861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배포 카메라·각도·조명 (도메인 일치)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85800" y="5385816"/>
            <a:ext cx="10789920" cy="0"/>
          </a:xfrm>
          <a:prstGeom prst="line">
            <a:avLst/>
          </a:prstGeom>
          <a:noFill/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85800" y="5495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2194560" y="54955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87영상 / 8각도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937760" y="549554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라벨 노이즈 — 의사라벨로 정제 후 재활용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검토했지만 쓸 수 없었던 공개 데이터셋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조건 하나라도 어긋나면 사전 예측 학습에 기여하지 못한다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68680" y="1837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UP-Fall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069080" y="1837944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웨어러블 센서 중심 — 카메라 단독 구성에서는 핵심 신호를 못 쓴다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340864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68680" y="24414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UMAFall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069080" y="244144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스마트폰 관성센서 전용. 영상 자체가 없어 포즈 파이프라인 투입 불가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944368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68680" y="304495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MPHB (LSP·MPII 파생)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069080" y="304495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정지 이미지 — 시간 정보가 없어 "낙상 전 움직임"을 학습할 수 없다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547872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68680" y="36484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CAVIAR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069080" y="3648456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낙상 클립이 극소수. 저해상도 감시 영상이라 포즈 추정 실패율이 높다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151376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68680" y="4251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falldataset.com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069080" y="4251960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Kinect 깊이 카메라 전제 — 우리 하드웨어에 깊이 센서가 없다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75488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68680" y="48554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NTU RGB+D 등 대형 행동인식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069080" y="4855464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낙상 시작 프레임 라벨이 없다. 사후 분류는 되지만 사전 예측은 불가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44068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E6F4F4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914400" y="56235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데이터는 많을수록 좋다? — MCF를 그대로 학습에 넣자 Le2i 오경보가 6.29 → 8.14로 악화됐다(어안 왜곡·동기 오차로 인한 라벨 노이즈). v5에서 모델 확신도로 79%만 골라내 재투입하자 비로소 도움이 됐다 — 양이 아니라 라벨 품질이 변수였다.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논문 19편에서 가져온 개선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기법이 실제로 해결한 문제와 측정된 효과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68680" y="1719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시간적 컨텍스트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68680" y="202996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 ICCVW'19 · DPT-Fall'25 · ST-GCN'21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383280" y="1737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 프레임 1장 독립 판정 → 노이즈 한 장에 오작동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383280" y="204825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  과거 0.2/0.5/1.0초 윈도우 통계를 특징화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오경보 8.86 → 3.00  (-66%)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51460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68680" y="2587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생체역학 추세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289864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Al-Hammouri, J.Biomech 2026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83280" y="26060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 전조를 너무 늦게 포착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83280" y="29169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  기울기·속도의 0.5초 추세 기울기 추가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38160" y="27523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중앙 선행시간 2.8초 확보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3832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68680" y="34564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신호 평활화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68680" y="3767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Saleh &amp; Tabatabaei (T-SHAP) 2026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83280" y="34747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 순간적으로 튀는 확률에 발사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383280" y="378561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  EWMA(α=0.4) 저역 필터 + 지속성 3프레임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138160" y="362102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단발 오탐 제거, 감지율 손실 없음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25196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E6F4F4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68680" y="43251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몸통 각도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68680" y="46360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 et al., IJTech 2022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43434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 앞/뒤 낙상에서 2D 기울기가 1.3°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383280" y="465429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  world landmarks 3D 각도 + 폭높이비 + 어깨높이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138160" y="44897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데이터셋 오경보 -27~49%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12064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E6F4F4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68680" y="51937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적응 + 의사라벨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68680" y="55046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DAFD TNSRE'21 · RGB2Depth Sensors'23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383280" y="52120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 환경 바뀌면 성능 저하 · 노이즈 데이터 폐기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383280" y="552297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  자기 기준선 대비 편차 + 확신도 기반 라벨 정제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38160" y="53583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 15/18 → 17/18, 오경보 -19%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트랜스포머·GCN은 성능은 높지만 데이터 규모와 CPU 실시간 제약을 고려해, 핵심 통찰만 취하고 경량 부스팅으로 구현했다.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v4의 핵심 — 2D로는 볼 수 없던 낙상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데이터 분석에서 발견한 구조적 한계와 해결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B6B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발견한 문제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축 방향(앞/뒤) 낙상에서 2D 기울기가 1.3°에 그침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몸이 화면 평면이 아니라 깊이 방향으로 기울기 때문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특징만으로는 빠르게 앉기와 구분 불가 (0.071 vs 0.039)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737360"/>
            <a:ext cx="5212080" cy="2148840"/>
          </a:xfrm>
          <a:prstGeom prst="roundRect">
            <a:avLst>
              <a:gd name="adj" fmla="val 4255"/>
            </a:avLst>
          </a:prstGeom>
          <a:solidFill>
            <a:srgbClr val="E6F4F4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58368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추가한 3개 특징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3957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몸통 각도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0" y="23957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landmarks 기반 — 깊이 방향 포착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0" y="28712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폭 / 높이 비율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412480" y="287121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누운 자세 판정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0" y="33467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 높이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0" y="33467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하강 진행도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4297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 → 97개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2960" y="48006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특징 총수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383280" y="416052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566160" y="4297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-27~49%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566160" y="48006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데이터셋 오경보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416052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309360" y="4297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4/5 → 5/5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309360" y="48006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옆방향 낙상 감지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869680" y="416052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9052560" y="4297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2.3ms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052560" y="48006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프레임당 추론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덤으로 확인한 것: v3와 v4가 놓치는 낙상이 서로 겹치지 않는다 — 두 모델을 함께 쓰면 16/17 감지에 오경보 1.70까지 내려간다.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아키텍처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입력에서 에어쿠션 전개까지 — 프레임당 약 13ms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828800" cy="1024128"/>
          </a:xfrm>
          <a:prstGeom prst="roundRect">
            <a:avLst>
              <a:gd name="adj" fmla="val 7143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731520" y="19110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13232" y="2221992"/>
            <a:ext cx="1682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단일 · 30fps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42032" y="2295144"/>
            <a:ext cx="310896" cy="0"/>
          </a:xfrm>
          <a:prstGeom prst="line">
            <a:avLst/>
          </a:prstGeom>
          <a:noFill/>
          <a:ln w="19050">
            <a:solidFill>
              <a:srgbClr val="9AAA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926080" y="1783080"/>
            <a:ext cx="2103120" cy="1024128"/>
          </a:xfrm>
          <a:prstGeom prst="roundRect">
            <a:avLst>
              <a:gd name="adj" fmla="val 7143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017520" y="191109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Pose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9232" y="2221992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33관절 2D + 3D · 10ms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02352" y="2295144"/>
            <a:ext cx="310896" cy="0"/>
          </a:xfrm>
          <a:prstGeom prst="line">
            <a:avLst/>
          </a:prstGeom>
          <a:noFill/>
          <a:ln w="19050">
            <a:solidFill>
              <a:srgbClr val="9AAA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486400" y="1783080"/>
            <a:ext cx="2377440" cy="1024128"/>
          </a:xfrm>
          <a:prstGeom prst="roundRect">
            <a:avLst>
              <a:gd name="adj" fmla="val 7143"/>
            </a:avLst>
          </a:prstGeom>
          <a:solidFill>
            <a:srgbClr val="E6F4F4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577840" y="19110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특징 7개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559552" y="2221992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속도·기울기 + 3D각·폭높이·어깨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36992" y="2295144"/>
            <a:ext cx="310896" cy="0"/>
          </a:xfrm>
          <a:prstGeom prst="line">
            <a:avLst/>
          </a:prstGeom>
          <a:noFill/>
          <a:ln w="19050">
            <a:solidFill>
              <a:srgbClr val="9AAA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321040" y="1783080"/>
            <a:ext cx="3200400" cy="1024128"/>
          </a:xfrm>
          <a:prstGeom prst="roundRect">
            <a:avLst>
              <a:gd name="adj" fmla="val 7143"/>
            </a:avLst>
          </a:prstGeom>
          <a:solidFill>
            <a:srgbClr val="E6F4F4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412480" y="191109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윈도우 특징 97개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94192" y="2221992"/>
            <a:ext cx="3054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0.2/0.5/1.0초 통계 · 추세 · EWMA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921240" y="2807208"/>
            <a:ext cx="0" cy="347472"/>
          </a:xfrm>
          <a:prstGeom prst="line">
            <a:avLst/>
          </a:prstGeom>
          <a:noFill/>
          <a:ln w="19050">
            <a:solidFill>
              <a:srgbClr val="9AAA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554480" y="3154680"/>
            <a:ext cx="8366760" cy="0"/>
          </a:xfrm>
          <a:prstGeom prst="line">
            <a:avLst/>
          </a:prstGeom>
          <a:noFill/>
          <a:ln w="19050">
            <a:solidFill>
              <a:srgbClr val="9AAA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554480" y="3154680"/>
            <a:ext cx="0" cy="292608"/>
          </a:xfrm>
          <a:prstGeom prst="line">
            <a:avLst/>
          </a:prstGeom>
          <a:noFill/>
          <a:ln w="19050">
            <a:solidFill>
              <a:srgbClr val="9AAA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40080" y="3154680"/>
            <a:ext cx="1828800" cy="1024128"/>
          </a:xfrm>
          <a:prstGeom prst="roundRect">
            <a:avLst>
              <a:gd name="adj" fmla="val 7143"/>
            </a:avLst>
          </a:prstGeom>
          <a:solidFill>
            <a:srgbClr val="F4F8F9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31520" y="32826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HistGB 분류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13232" y="3593592"/>
            <a:ext cx="1682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확률 · 2.3ms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42032" y="3666744"/>
            <a:ext cx="310896" cy="0"/>
          </a:xfrm>
          <a:prstGeom prst="line">
            <a:avLst/>
          </a:prstGeom>
          <a:noFill/>
          <a:ln w="19050">
            <a:solidFill>
              <a:srgbClr val="9AAA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926080" y="3154680"/>
            <a:ext cx="2103120" cy="1024128"/>
          </a:xfrm>
          <a:prstGeom prst="roundRect">
            <a:avLst>
              <a:gd name="adj" fmla="val 7143"/>
            </a:avLst>
          </a:prstGeom>
          <a:solidFill>
            <a:srgbClr val="E6F4F4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017520" y="328269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평활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999232" y="3593592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α=0.4 저역 필터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102352" y="3666744"/>
            <a:ext cx="310896" cy="0"/>
          </a:xfrm>
          <a:prstGeom prst="line">
            <a:avLst/>
          </a:prstGeom>
          <a:noFill/>
          <a:ln w="19050">
            <a:solidFill>
              <a:srgbClr val="9AAA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486400" y="3154680"/>
            <a:ext cx="2377440" cy="1024128"/>
          </a:xfrm>
          <a:prstGeom prst="roundRect">
            <a:avLst>
              <a:gd name="adj" fmla="val 7143"/>
            </a:avLst>
          </a:prstGeom>
          <a:solidFill>
            <a:srgbClr val="E6F4F4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5577840" y="32826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지속성 판정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559552" y="3593592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3프레임 연속 · 임계 0.10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936992" y="3666744"/>
            <a:ext cx="310896" cy="0"/>
          </a:xfrm>
          <a:prstGeom prst="line">
            <a:avLst/>
          </a:prstGeom>
          <a:noFill/>
          <a:ln w="19050">
            <a:solidFill>
              <a:srgbClr val="9AAA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8321040" y="3154680"/>
            <a:ext cx="3200400" cy="1024128"/>
          </a:xfrm>
          <a:prstGeom prst="roundRect">
            <a:avLst>
              <a:gd name="adj" fmla="val 7143"/>
            </a:avLst>
          </a:prstGeom>
          <a:solidFill>
            <a:srgbClr val="E6F4F4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8412480" y="328269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 추정 → 타일 → 에어쿠션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94192" y="3593592"/>
            <a:ext cx="3054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0.65~2.8초 선행 전개 + 알림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080" y="45262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4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914400" y="46451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파이프라인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017520" y="4663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데이터셋 328영상  →  낙상 직전 1초 = 위험 라벨  →  증강(반전·속도워프, 4배)  →  영상·장면·사람 단위 3중 분할 검증  →  모델 1.6MB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학습/서빙 일치 검증: 실시간 스트리밍 계산이 학습 시 배치 계산과 수치적으로 동일 (최대 오차 2.2e-16)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문장 요약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단일 RGB 카메라만으로 낙상을 평균 0.75~2.1초 전에 감지하고,</a:t>
            </a:r>
            <a:endParaRPr lang="en-US" sz="26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4개 독립 데이터셋에서 검증했으며, 논문 19편의 기법을 단계적으로 적용해</a:t>
            </a:r>
            <a:endParaRPr lang="en-US" sz="26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오경보를 58% 줄인 실시간 CPU 시스템.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45262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6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 인원·환경 확대 — 현재 2명·40클립으로는 신뢰구간이 넓다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6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v3+v4 앙상블 검토 — 감지 16/17에 오경보 1.70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6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데이터가 더 모이면 GRU/Transformer로 승격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</TotalTime>
  <Words>1231</Words>
  <Application>Microsoft Macintosh PowerPoint</Application>
  <PresentationFormat>와이드스크린</PresentationFormat>
  <Paragraphs>204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Yeon</cp:lastModifiedBy>
  <cp:revision>2</cp:revision>
  <dcterms:created xsi:type="dcterms:W3CDTF">2026-08-05T16:26:54Z</dcterms:created>
  <dcterms:modified xsi:type="dcterms:W3CDTF">2026-08-06T14:47:21Z</dcterms:modified>
</cp:coreProperties>
</file>